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8D363A-854F-40F0-8A14-F13BA97D247D}" v="2" dt="2026-09-30T16:09:00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D33B142-2BD3-40AA-B3CF-FD41D9778C9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6EBAB4-CE88-4605-9363-3E02A5C3DD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</a:p>
          <a:p>
            <a:pPr marL="864000" lvl="1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drive.google.com/file/d/1lHp3Xx4LIlOMjY_iVLKTWf7x0VvgcM1i/view?usp=sharin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58368"/>
            <a:ext cx="2423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Arial"/>
              </a:rPr>
              <a:t>SAMSUNG PRISM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4142B"/>
                </a:solidFill>
                <a:latin typeface="Arial"/>
              </a:rPr>
              <a:t>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6D28D9"/>
                </a:solidFill>
                <a:latin typeface="Arial"/>
              </a:rPr>
              <a:t>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6126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142B"/>
                </a:solidFill>
                <a:latin typeface="Arial"/>
              </a:rPr>
              <a:t>3rd Edition   2026 –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580644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3637E"/>
                </a:solidFill>
                <a:latin typeface="Calibri"/>
              </a:rPr>
              <a:t>Theme ID - 01
Team Name - ExynoX
College Name - SRM Institute of Science and Technology — KTR
Member Name &amp; Email 1 - Mohammad Kashif Fazili — mf4545@srmist.edu.in
Member Name &amp; Email 2 - Shaurya Barnwal — Sb6928@srmist.edu.in
Member Name &amp; Email 3 - Vandana Patel — vp6939@srmist.edu.in
Member Name &amp; Email 4 - Suryansh Nair — sn5478@srmist.edu.in
Submission Github link - https://github.com/ExynoX-Team/ExynoX-Code-Intelligence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713232"/>
            <a:ext cx="3886200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4681728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04EA6"/>
                </a:solidFill>
                <a:latin typeface="Arial"/>
              </a:rPr>
              <a:t>AGENTIC CODE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504748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3637E"/>
                </a:solidFill>
                <a:latin typeface="Calibri"/>
              </a:rPr>
              <a:t>Understand • Search • Trace • Explain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27080" y="3017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704EA6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704EA6"/>
                </a:solidFill>
                <a:latin typeface="Arial"/>
              </a:rPr>
              <a:t>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332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63637E"/>
                </a:solidFill>
                <a:latin typeface="Calibri"/>
              </a:rPr>
              <a:t>Theme 01 — Agentic Code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417320"/>
            <a:ext cx="5074920" cy="566928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D28D9"/>
                </a:solidFill>
                <a:latin typeface="Arial"/>
              </a:rPr>
              <a:t>PROBLEM</a:t>
            </a:r>
          </a:p>
          <a:p>
            <a:pPr algn="ctr">
              <a:spcBef>
                <a:spcPts val="200"/>
              </a:spcBef>
            </a:pPr>
            <a:r>
              <a:rPr sz="860" b="0">
                <a:solidFill>
                  <a:srgbClr val="63637E"/>
                </a:solidFill>
                <a:latin typeface="Calibri"/>
              </a:rPr>
              <a:t>Large voice-assistant codebases spread agents and tools across many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12848"/>
            <a:ext cx="5074920" cy="640080"/>
          </a:xfrm>
          <a:prstGeom prst="roundRect">
            <a:avLst/>
          </a:prstGeom>
          <a:solidFill>
            <a:srgbClr val="F7F5FB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40" b="1">
                <a:solidFill>
                  <a:srgbClr val="704EA6"/>
                </a:solidFill>
                <a:latin typeface="Arial"/>
              </a:rPr>
              <a:t>CONTEXT LIMIT</a:t>
            </a:r>
          </a:p>
          <a:p>
            <a:pPr algn="ctr">
              <a:spcBef>
                <a:spcPts val="200"/>
              </a:spcBef>
            </a:pPr>
            <a:r>
              <a:rPr sz="819" b="0">
                <a:solidFill>
                  <a:srgbClr val="63637E"/>
                </a:solidFill>
                <a:latin typeface="Calibri"/>
              </a:rPr>
              <a:t>The repository cannot fit into a single LLM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017520"/>
            <a:ext cx="5074920" cy="640080"/>
          </a:xfrm>
          <a:prstGeom prst="roundRect">
            <a:avLst/>
          </a:prstGeom>
          <a:solidFill>
            <a:srgbClr val="F7F5FB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40" b="1">
                <a:solidFill>
                  <a:srgbClr val="704EA6"/>
                </a:solidFill>
                <a:latin typeface="Arial"/>
              </a:rPr>
              <a:t>SLOW DISCOVERY</a:t>
            </a:r>
          </a:p>
          <a:p>
            <a:pPr algn="ctr">
              <a:spcBef>
                <a:spcPts val="200"/>
              </a:spcBef>
            </a:pPr>
            <a:r>
              <a:rPr sz="819" b="0">
                <a:solidFill>
                  <a:srgbClr val="63637E"/>
                </a:solidFill>
                <a:latin typeface="Calibri"/>
              </a:rPr>
              <a:t>Finding where behavior happens is the bottleneck.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822191"/>
            <a:ext cx="5074920" cy="640080"/>
          </a:xfrm>
          <a:prstGeom prst="roundRect">
            <a:avLst/>
          </a:prstGeom>
          <a:solidFill>
            <a:srgbClr val="F7F5FB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40" b="1">
                <a:solidFill>
                  <a:srgbClr val="704EA6"/>
                </a:solidFill>
                <a:latin typeface="Arial"/>
              </a:rPr>
              <a:t>FIXING TAKES CONTEXT</a:t>
            </a:r>
          </a:p>
          <a:p>
            <a:pPr algn="ctr">
              <a:spcBef>
                <a:spcPts val="200"/>
              </a:spcBef>
            </a:pPr>
            <a:r>
              <a:rPr sz="819" b="0">
                <a:solidFill>
                  <a:srgbClr val="63637E"/>
                </a:solidFill>
                <a:latin typeface="Calibri"/>
              </a:rPr>
              <a:t>Developers need exact code locations and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566928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D28D9"/>
                </a:solidFill>
                <a:latin typeface="Arial"/>
              </a:rPr>
              <a:t>WHAT WE BUILD</a:t>
            </a:r>
          </a:p>
          <a:p>
            <a:pPr algn="ctr">
              <a:spcBef>
                <a:spcPts val="200"/>
              </a:spcBef>
            </a:pPr>
            <a:r>
              <a:rPr sz="860" b="0">
                <a:solidFill>
                  <a:srgbClr val="63637E"/>
                </a:solidFill>
                <a:latin typeface="Calibri"/>
              </a:rPr>
              <a:t>Natural-language search, structural queries, and agentic retrieval.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12848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6D28D9"/>
                </a:solidFill>
                <a:latin typeface="Arial"/>
              </a:rPr>
              <a:t>01  NATURAL-LANGUAGE CODE SEARCH</a:t>
            </a:r>
          </a:p>
          <a:p>
            <a:pPr algn="ctr">
              <a:spcBef>
                <a:spcPts val="200"/>
              </a:spcBef>
            </a:pPr>
            <a:r>
              <a:rPr sz="810" b="0">
                <a:solidFill>
                  <a:srgbClr val="63637E"/>
                </a:solidFill>
                <a:latin typeface="Calibri"/>
              </a:rPr>
              <a:t>Matching snippets with file and line locations.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17520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704EA6"/>
                </a:solidFill>
                <a:latin typeface="Arial"/>
              </a:rPr>
              <a:t>02  STRUCTURAL / USAGE QUERIES</a:t>
            </a:r>
          </a:p>
          <a:p>
            <a:pPr algn="ctr">
              <a:spcBef>
                <a:spcPts val="200"/>
              </a:spcBef>
            </a:pPr>
            <a:r>
              <a:rPr sz="810" b="0">
                <a:solidFill>
                  <a:srgbClr val="63637E"/>
                </a:solidFill>
                <a:latin typeface="Calibri"/>
              </a:rPr>
              <a:t>Caller, dependency and usage relationships.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822191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6D28D9"/>
                </a:solidFill>
                <a:latin typeface="Arial"/>
              </a:rPr>
              <a:t>03  AGENTIC RETRIEVAL</a:t>
            </a:r>
          </a:p>
          <a:p>
            <a:pPr algn="ctr">
              <a:spcBef>
                <a:spcPts val="200"/>
              </a:spcBef>
            </a:pPr>
            <a:r>
              <a:rPr sz="810" b="0">
                <a:solidFill>
                  <a:srgbClr val="63637E"/>
                </a:solidFill>
                <a:latin typeface="Calibri"/>
              </a:rPr>
              <a:t>Plan → search → read → refine.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5074920"/>
            <a:ext cx="6400800" cy="621792"/>
          </a:xfrm>
          <a:prstGeom prst="roundRect">
            <a:avLst/>
          </a:prstGeom>
          <a:solidFill>
            <a:srgbClr val="F7F5FB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0" b="1">
                <a:solidFill>
                  <a:srgbClr val="704EA6"/>
                </a:solidFill>
                <a:latin typeface="Arial"/>
              </a:rPr>
              <a:t>TARGET ENVIRONMENT  •  JAVASCRIPT / TYPESCRIPT  •  SEMANTIC + STRUCTURAL RETRIEVAL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27080" y="3017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704EA6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704EA6"/>
                </a:solidFill>
                <a:latin typeface="Arial"/>
              </a:rPr>
              <a:t>Existing Solutions &amp;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332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63637E"/>
                </a:solidFill>
                <a:latin typeface="Calibri"/>
              </a:rPr>
              <a:t>Common approaches solve different parts of code discovery; our combination addresses meaning, structure and investigation.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37560" cy="2148840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6D28D9"/>
                </a:solidFill>
                <a:latin typeface="Arial"/>
              </a:rPr>
              <a:t>KEYWORD SEARCH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3637E"/>
                </a:solidFill>
                <a:latin typeface="Calibri"/>
              </a:rPr>
              <a:t>Exact matching
Limited semantic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06324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D28D9"/>
                </a:solidFill>
                <a:latin typeface="Arial"/>
              </a:rPr>
              <a:t>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73552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63637E"/>
                </a:solidFill>
                <a:latin typeface="Calibri"/>
              </a:rPr>
              <a:t>Limited semantic understanding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3712" y="1600200"/>
            <a:ext cx="3337560" cy="2148840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704EA6"/>
                </a:solidFill>
                <a:latin typeface="Arial"/>
              </a:rPr>
              <a:t>ONE-SHOT LLM / LARGE CONTEXT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3637E"/>
                </a:solidFill>
                <a:latin typeface="Calibri"/>
              </a:rPr>
              <a:t>Single pass over context
Difficult to use over very large repositories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06324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704EA6"/>
                </a:solidFill>
                <a:latin typeface="Arial"/>
              </a:rPr>
              <a:t>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273552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63637E"/>
                </a:solidFill>
                <a:latin typeface="Calibri"/>
              </a:rPr>
              <a:t>Difficult to use over very large repositories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75904" y="1600200"/>
            <a:ext cx="3337560" cy="2148840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6D28D9"/>
                </a:solidFill>
                <a:latin typeface="Arial"/>
              </a:rPr>
              <a:t>BASIC TEXT / SEMANTIC RETRIEVAL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3637E"/>
                </a:solidFill>
                <a:latin typeface="Calibri"/>
              </a:rPr>
              <a:t>Useful snippets
Weaker structural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306324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6D28D9"/>
                </a:solidFill>
                <a:latin typeface="Arial"/>
              </a:rPr>
              <a:t>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3273552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63637E"/>
                </a:solidFill>
                <a:latin typeface="Calibri"/>
              </a:rPr>
              <a:t>Weaker structural understanding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4617720"/>
            <a:ext cx="8275320" cy="822960"/>
          </a:xfrm>
          <a:prstGeom prst="roundRect">
            <a:avLst/>
          </a:prstGeom>
          <a:solidFill>
            <a:srgbClr val="F7F5FB"/>
          </a:solidFill>
          <a:ln w="1778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6D28D9"/>
                </a:solidFill>
                <a:latin typeface="Arial"/>
              </a:rPr>
              <a:t>SEMANTIC + STRUCTURAL + AGENTIC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486400"/>
            <a:ext cx="6720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3637E"/>
                </a:solidFill>
                <a:latin typeface="Calibri"/>
              </a:rPr>
              <a:t>Meaning + relationships + iterative evidence gathering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27080" y="3017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704EA6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704EA6"/>
                </a:solidFill>
                <a:latin typeface="Arial"/>
              </a:rPr>
              <a:t>Our Solutions &amp;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332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63637E"/>
                </a:solidFill>
                <a:latin typeface="Calibri"/>
              </a:rPr>
              <a:t>Two stages: build compact code representations once, then investigate retrieved evidence at query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18288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704EA6"/>
                </a:solidFill>
                <a:latin typeface="Arial"/>
              </a:rPr>
              <a:t>INDEXING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761488"/>
            <a:ext cx="16002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704EA6"/>
                </a:solidFill>
                <a:latin typeface="Arial"/>
              </a:rPr>
              <a:t>QUERY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27632"/>
            <a:ext cx="1920240" cy="62179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6D28D9"/>
                </a:solidFill>
                <a:latin typeface="Arial"/>
              </a:rPr>
              <a:t>CODEBASE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63637E"/>
                </a:solidFill>
                <a:latin typeface="Calibri"/>
              </a:rPr>
              <a:t>JavaScript / 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7248" y="1627632"/>
            <a:ext cx="1920240" cy="62179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704EA6"/>
                </a:solidFill>
                <a:latin typeface="Arial"/>
              </a:rPr>
              <a:t>PARSE + CHUNK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63637E"/>
                </a:solidFill>
                <a:latin typeface="Calibri"/>
              </a:rPr>
              <a:t>Code-aware units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1264" y="1627632"/>
            <a:ext cx="1920240" cy="62179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6D28D9"/>
                </a:solidFill>
                <a:latin typeface="Arial"/>
              </a:rPr>
              <a:t>REPRESENT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63637E"/>
                </a:solidFill>
                <a:latin typeface="Calibri"/>
              </a:rPr>
              <a:t>Embeddings + symbols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27632"/>
            <a:ext cx="1920240" cy="62179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704EA6"/>
                </a:solidFill>
                <a:latin typeface="Arial"/>
              </a:rPr>
              <a:t>INDEX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63637E"/>
                </a:solidFill>
                <a:latin typeface="Calibri"/>
              </a:rPr>
              <a:t>Vector + structural index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1938528"/>
            <a:ext cx="493776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47488" y="1938528"/>
            <a:ext cx="493776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61504" y="1938528"/>
            <a:ext cx="493775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3232" y="3154680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6D28D9"/>
                </a:solidFill>
                <a:latin typeface="Arial"/>
              </a:rPr>
              <a:t>USER QUERY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Natural language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7248" y="3154680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704EA6"/>
                </a:solidFill>
                <a:latin typeface="Arial"/>
              </a:rPr>
              <a:t>AGENT PLANNER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Choose evidence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41264" y="3154680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6D28D9"/>
                </a:solidFill>
                <a:latin typeface="Arial"/>
              </a:rPr>
              <a:t>RETRIEVAL ORCHESTRATOR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Route retrieval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87752" y="3419856"/>
            <a:ext cx="539496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01768" y="3419856"/>
            <a:ext cx="539496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86200" y="3977639"/>
            <a:ext cx="2148840" cy="566928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6D28D9"/>
                </a:solidFill>
                <a:latin typeface="Arial"/>
              </a:rPr>
              <a:t>SEMANTIC SEARCH</a:t>
            </a:r>
          </a:p>
          <a:p>
            <a:pPr algn="ctr">
              <a:spcBef>
                <a:spcPts val="200"/>
              </a:spcBef>
            </a:pPr>
            <a:r>
              <a:rPr sz="770" b="0">
                <a:solidFill>
                  <a:srgbClr val="63637E"/>
                </a:solidFill>
                <a:latin typeface="Calibri"/>
              </a:rPr>
              <a:t>Embeddings → vector 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3977639"/>
            <a:ext cx="2148840" cy="566928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704EA6"/>
                </a:solidFill>
                <a:latin typeface="Arial"/>
              </a:rPr>
              <a:t>STRUCTURAL SEARCH</a:t>
            </a:r>
          </a:p>
          <a:p>
            <a:pPr algn="ctr">
              <a:spcBef>
                <a:spcPts val="200"/>
              </a:spcBef>
            </a:pPr>
            <a:r>
              <a:rPr sz="770" b="0">
                <a:solidFill>
                  <a:srgbClr val="63637E"/>
                </a:solidFill>
                <a:latin typeface="Calibri"/>
              </a:rPr>
              <a:t>Symbols / relationships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78524" y="3685032"/>
            <a:ext cx="0" cy="109728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960620" y="3794760"/>
            <a:ext cx="1517904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60620" y="3794760"/>
            <a:ext cx="0" cy="182879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78524" y="3794760"/>
            <a:ext cx="1408176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86700" y="3794760"/>
            <a:ext cx="0" cy="182879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83480" y="4800600"/>
            <a:ext cx="2331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9" b="1">
                <a:solidFill>
                  <a:srgbClr val="6D28D9"/>
                </a:solidFill>
                <a:latin typeface="Arial"/>
              </a:rPr>
              <a:t>READ / INSPECT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63637E"/>
                </a:solidFill>
                <a:latin typeface="Calibri"/>
              </a:rPr>
              <a:t>Open relevant code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60620" y="4544568"/>
            <a:ext cx="0" cy="9144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86700" y="4544568"/>
            <a:ext cx="0" cy="9144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60620" y="4636008"/>
            <a:ext cx="2926080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149340" y="4636008"/>
            <a:ext cx="0" cy="164592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983480" y="5532120"/>
            <a:ext cx="2331720" cy="53035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704EA6"/>
                </a:solidFill>
                <a:latin typeface="Arial"/>
              </a:rPr>
              <a:t>TRACE</a:t>
            </a:r>
          </a:p>
          <a:p>
            <a:pPr algn="ctr">
              <a:spcBef>
                <a:spcPts val="200"/>
              </a:spcBef>
            </a:pPr>
            <a:r>
              <a:rPr sz="770" b="0">
                <a:solidFill>
                  <a:srgbClr val="63637E"/>
                </a:solidFill>
                <a:latin typeface="Calibri"/>
              </a:rPr>
              <a:t>Callers / callees / usage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5532120"/>
            <a:ext cx="2331720" cy="53035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6D28D9"/>
                </a:solidFill>
                <a:latin typeface="Arial"/>
              </a:rPr>
              <a:t>VERIFY / REFINE</a:t>
            </a:r>
          </a:p>
          <a:p>
            <a:pPr algn="ctr">
              <a:spcBef>
                <a:spcPts val="200"/>
              </a:spcBef>
            </a:pPr>
            <a:r>
              <a:rPr sz="770" b="0">
                <a:solidFill>
                  <a:srgbClr val="63637E"/>
                </a:solidFill>
                <a:latin typeface="Calibri"/>
              </a:rPr>
              <a:t>Is evidence sufficient?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49340" y="5367528"/>
            <a:ext cx="0" cy="164592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15200" y="5797296"/>
            <a:ext cx="320040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012680" y="5532120"/>
            <a:ext cx="1417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6D28D9"/>
                </a:solidFill>
                <a:latin typeface="Arial"/>
              </a:rPr>
              <a:t>ANSWER</a:t>
            </a:r>
          </a:p>
          <a:p>
            <a:pPr algn="ctr">
              <a:spcBef>
                <a:spcPts val="200"/>
              </a:spcBef>
            </a:pPr>
            <a:r>
              <a:rPr sz="710" b="0">
                <a:solidFill>
                  <a:srgbClr val="63637E"/>
                </a:solidFill>
                <a:latin typeface="Calibri"/>
              </a:rPr>
              <a:t>Evidence-backed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66960" y="5797296"/>
            <a:ext cx="45720" cy="0"/>
          </a:xfrm>
          <a:prstGeom prst="line">
            <a:avLst/>
          </a:prstGeom>
          <a:ln w="13970">
            <a:solidFill>
              <a:srgbClr val="6D28D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635240" y="6144768"/>
            <a:ext cx="233172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60" b="1">
                <a:solidFill>
                  <a:srgbClr val="704EA6"/>
                </a:solidFill>
                <a:latin typeface="Arial"/>
              </a:rPr>
              <a:t>MORE EVIDENCE → RE-PLAN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01100" y="6062472"/>
            <a:ext cx="0" cy="82296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966960" y="6341364"/>
            <a:ext cx="1508760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1475720" y="2971800"/>
            <a:ext cx="0" cy="3369564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4069080" y="2971800"/>
            <a:ext cx="7406640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2971800"/>
            <a:ext cx="0" cy="18288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021824" y="5266944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30" b="1" dirty="0">
                <a:solidFill>
                  <a:srgbClr val="6D28D9"/>
                </a:solidFill>
                <a:latin typeface="Arial"/>
              </a:rPr>
              <a:t>YES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88552" y="6108192"/>
            <a:ext cx="3200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30" b="1">
                <a:solidFill>
                  <a:srgbClr val="704EA6"/>
                </a:solidFill>
                <a:latin typeface="Arial"/>
              </a:rPr>
              <a:t>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/>
          <p:cNvSpPr/>
          <p:nvPr/>
        </p:nvSpPr>
        <p:spPr>
          <a:xfrm>
            <a:off x="7863840" y="2788920"/>
            <a:ext cx="367588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1792" y="2752344"/>
            <a:ext cx="7040880" cy="3995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927080" y="3017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704EA6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704EA6"/>
                </a:solidFill>
                <a:latin typeface="Arial"/>
              </a:rPr>
              <a:t>Demo &amp; 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332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63637E"/>
                </a:solidFill>
                <a:latin typeface="Calibri"/>
              </a:rPr>
              <a:t>User-facing flow: ask a code question, investigate evidence, trace relationships, then explain the result.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508760"/>
            <a:ext cx="144475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6D28D9"/>
                </a:solidFill>
                <a:latin typeface="Arial"/>
              </a:rPr>
              <a:t>ASK</a:t>
            </a:r>
          </a:p>
          <a:p>
            <a:pPr algn="ctr">
              <a:spcBef>
                <a:spcPts val="200"/>
              </a:spcBef>
            </a:pPr>
            <a:r>
              <a:rPr sz="740" b="0">
                <a:solidFill>
                  <a:srgbClr val="63637E"/>
                </a:solidFill>
                <a:latin typeface="Calibri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563624"/>
            <a:ext cx="29260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1">
                <a:solidFill>
                  <a:srgbClr val="704EA6"/>
                </a:solidFill>
                <a:latin typeface="Arial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1851660"/>
            <a:ext cx="155448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75688" y="1508760"/>
            <a:ext cx="144475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704EA6"/>
                </a:solidFill>
                <a:latin typeface="Arial"/>
              </a:rPr>
              <a:t>PLAN</a:t>
            </a:r>
          </a:p>
          <a:p>
            <a:pPr algn="ctr">
              <a:spcBef>
                <a:spcPts val="200"/>
              </a:spcBef>
            </a:pPr>
            <a:r>
              <a:rPr sz="740" b="0">
                <a:solidFill>
                  <a:srgbClr val="63637E"/>
                </a:solidFill>
                <a:latin typeface="Calibri"/>
              </a:rPr>
              <a:t>Evidence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9696" y="1563624"/>
            <a:ext cx="29260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1">
                <a:solidFill>
                  <a:srgbClr val="704EA6"/>
                </a:solidFill>
                <a:latin typeface="Arial"/>
              </a:rPr>
              <a:t>02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20440" y="1851660"/>
            <a:ext cx="155448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75887" y="1508760"/>
            <a:ext cx="144475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6D28D9"/>
                </a:solidFill>
                <a:latin typeface="Arial"/>
              </a:rPr>
              <a:t>SEARCH</a:t>
            </a:r>
          </a:p>
          <a:p>
            <a:pPr algn="ctr">
              <a:spcBef>
                <a:spcPts val="200"/>
              </a:spcBef>
            </a:pPr>
            <a:r>
              <a:rPr sz="740" b="0">
                <a:solidFill>
                  <a:srgbClr val="63637E"/>
                </a:solidFill>
                <a:latin typeface="Calibri"/>
              </a:rPr>
              <a:t>Semantic + structural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1563624"/>
            <a:ext cx="29260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1">
                <a:solidFill>
                  <a:srgbClr val="704EA6"/>
                </a:solidFill>
                <a:latin typeface="Arial"/>
              </a:rPr>
              <a:t>03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20640" y="1851660"/>
            <a:ext cx="155448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76088" y="1508760"/>
            <a:ext cx="144475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704EA6"/>
                </a:solidFill>
                <a:latin typeface="Arial"/>
              </a:rPr>
              <a:t>INSPECT</a:t>
            </a:r>
          </a:p>
          <a:p>
            <a:pPr algn="ctr">
              <a:spcBef>
                <a:spcPts val="200"/>
              </a:spcBef>
            </a:pPr>
            <a:r>
              <a:rPr sz="740" b="0">
                <a:solidFill>
                  <a:srgbClr val="63637E"/>
                </a:solidFill>
                <a:latin typeface="Calibri"/>
              </a:rPr>
              <a:t>Candidate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1563624"/>
            <a:ext cx="29260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1">
                <a:solidFill>
                  <a:srgbClr val="704EA6"/>
                </a:solidFill>
                <a:latin typeface="Arial"/>
              </a:rPr>
              <a:t>04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20840" y="1851660"/>
            <a:ext cx="155448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76288" y="1508760"/>
            <a:ext cx="144475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6D28D9"/>
                </a:solidFill>
                <a:latin typeface="Arial"/>
              </a:rPr>
              <a:t>TRACE</a:t>
            </a:r>
          </a:p>
          <a:p>
            <a:pPr algn="ctr">
              <a:spcBef>
                <a:spcPts val="200"/>
              </a:spcBef>
            </a:pPr>
            <a:r>
              <a:rPr sz="740" b="0">
                <a:solidFill>
                  <a:srgbClr val="63637E"/>
                </a:solidFill>
                <a:latin typeface="Calibri"/>
              </a:rPr>
              <a:t>Relationships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1563624"/>
            <a:ext cx="29260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1">
                <a:solidFill>
                  <a:srgbClr val="704EA6"/>
                </a:solidFill>
                <a:latin typeface="Arial"/>
              </a:rPr>
              <a:t>05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21040" y="1851660"/>
            <a:ext cx="155448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76488" y="1508760"/>
            <a:ext cx="144475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704EA6"/>
                </a:solidFill>
                <a:latin typeface="Arial"/>
              </a:rPr>
              <a:t>REFINE</a:t>
            </a:r>
          </a:p>
          <a:p>
            <a:pPr algn="ctr">
              <a:spcBef>
                <a:spcPts val="200"/>
              </a:spcBef>
            </a:pPr>
            <a:r>
              <a:rPr sz="740" b="0">
                <a:solidFill>
                  <a:srgbClr val="63637E"/>
                </a:solidFill>
                <a:latin typeface="Calibri"/>
              </a:rPr>
              <a:t>Evidence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1563624"/>
            <a:ext cx="29260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1">
                <a:solidFill>
                  <a:srgbClr val="704EA6"/>
                </a:solidFill>
                <a:latin typeface="Arial"/>
              </a:rPr>
              <a:t>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921240" y="1851660"/>
            <a:ext cx="155448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76688" y="1508760"/>
            <a:ext cx="144475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6D28D9"/>
                </a:solidFill>
                <a:latin typeface="Arial"/>
              </a:rPr>
              <a:t>ANSWER</a:t>
            </a:r>
          </a:p>
          <a:p>
            <a:pPr algn="ctr">
              <a:spcBef>
                <a:spcPts val="200"/>
              </a:spcBef>
            </a:pPr>
            <a:r>
              <a:rPr sz="740" b="0">
                <a:solidFill>
                  <a:srgbClr val="63637E"/>
                </a:solidFill>
                <a:latin typeface="Calibri"/>
              </a:rPr>
              <a:t>Explanation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0696" y="1563624"/>
            <a:ext cx="29260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1">
                <a:solidFill>
                  <a:srgbClr val="704EA6"/>
                </a:solidFill>
                <a:latin typeface="Arial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450592"/>
            <a:ext cx="2926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D28D9"/>
                </a:solidFill>
                <a:latin typeface="Aptos"/>
              </a:rPr>
              <a:t>LIVE PROTOTYPE EVIDENCE</a:t>
            </a:r>
          </a:p>
        </p:txBody>
      </p:sp>
      <p:pic>
        <p:nvPicPr>
          <p:cNvPr id="26" name="Picture 25" descr="Screenshot 2026-09-30 173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3" y="2706623"/>
            <a:ext cx="7114032" cy="4041647"/>
          </a:xfrm>
          <a:prstGeom prst="rect">
            <a:avLst/>
          </a:prstGeom>
        </p:spPr>
      </p:pic>
      <p:pic>
        <p:nvPicPr>
          <p:cNvPr id="29" name="Picture 28" descr="Screenshot 2026-09-30 1723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39" y="2788920"/>
            <a:ext cx="3706367" cy="175930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65008" y="4529937"/>
            <a:ext cx="354787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 dirty="0">
                <a:solidFill>
                  <a:srgbClr val="5A5368"/>
                </a:solidFill>
                <a:latin typeface="Aptos"/>
              </a:rPr>
              <a:t>Repository entry • ZIP upload • GitHub URL • sample repository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5230368"/>
            <a:ext cx="3675887" cy="987552"/>
          </a:xfrm>
          <a:prstGeom prst="roundRect">
            <a:avLst/>
          </a:prstGeom>
          <a:solidFill>
            <a:srgbClr val="F7F5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65008" y="5330952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D28D9"/>
                </a:solidFill>
                <a:latin typeface="Aptos"/>
              </a:rPr>
              <a:t>QUERY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5532120"/>
            <a:ext cx="321868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B2340"/>
                </a:solidFill>
                <a:latin typeface="Aptos"/>
              </a:rPr>
              <a:t>“Where is the prediction model used?”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5833872"/>
            <a:ext cx="3218688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0B7A75"/>
                </a:solidFill>
                <a:latin typeface="Aptos"/>
              </a:rPr>
              <a:t>AI Active • Gemini • Verified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6318504"/>
            <a:ext cx="3675887" cy="365760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0" y="6318504"/>
            <a:ext cx="331012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  <a:hlinkClick r:id="rId4"/>
              </a:rPr>
              <a:t>▶  WATCH THE FULL DEMO VIDEO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27080" y="3017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704EA6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704EA6"/>
                </a:solidFill>
                <a:latin typeface="Arial"/>
              </a:rPr>
              <a:t>Tools and tech stack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332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63637E"/>
                </a:solidFill>
                <a:latin typeface="Calibri"/>
              </a:rPr>
              <a:t>Technology grouped by the role it performs in indexing, retrieval, reasoning and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2487168" cy="89611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90" b="1">
                <a:solidFill>
                  <a:srgbClr val="6D28D9"/>
                </a:solidFill>
                <a:latin typeface="Arial"/>
              </a:rPr>
              <a:t>JAVASCRIPT / TYPESCRIPT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63637E"/>
                </a:solidFill>
                <a:latin typeface="Calibri"/>
              </a:rPr>
              <a:t>Primary target codebase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81328"/>
            <a:ext cx="2487168" cy="89611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90" b="1">
                <a:solidFill>
                  <a:srgbClr val="704EA6"/>
                </a:solidFill>
                <a:latin typeface="Arial"/>
              </a:rPr>
              <a:t>AST PARSING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63637E"/>
                </a:solidFill>
                <a:latin typeface="Calibri"/>
              </a:rPr>
              <a:t>Code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481328"/>
            <a:ext cx="2487168" cy="89611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90" b="1">
                <a:solidFill>
                  <a:srgbClr val="6D28D9"/>
                </a:solidFill>
                <a:latin typeface="Arial"/>
              </a:rPr>
              <a:t>EMBEDDINGS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63637E"/>
                </a:solidFill>
                <a:latin typeface="Calibri"/>
              </a:rPr>
              <a:t>Semantic representation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07424" y="1481328"/>
            <a:ext cx="2487168" cy="89611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90" b="1">
                <a:solidFill>
                  <a:srgbClr val="704EA6"/>
                </a:solidFill>
                <a:latin typeface="Arial"/>
              </a:rPr>
              <a:t>VECTOR INDEX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63637E"/>
                </a:solidFill>
                <a:latin typeface="Calibri"/>
              </a:rPr>
              <a:t>Semantic 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15768"/>
            <a:ext cx="2487168" cy="89611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90" b="1">
                <a:solidFill>
                  <a:srgbClr val="6D28D9"/>
                </a:solidFill>
                <a:latin typeface="Arial"/>
              </a:rPr>
              <a:t>CALL GRAPH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63637E"/>
                </a:solidFill>
                <a:latin typeface="Calibri"/>
              </a:rPr>
              <a:t>Relationships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715768"/>
            <a:ext cx="2487168" cy="89611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90" b="1">
                <a:solidFill>
                  <a:srgbClr val="704EA6"/>
                </a:solidFill>
                <a:latin typeface="Arial"/>
              </a:rPr>
              <a:t>AGENT LOOP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63637E"/>
                </a:solidFill>
                <a:latin typeface="Calibri"/>
              </a:rPr>
              <a:t>Plan / retrieve / refine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2715768"/>
            <a:ext cx="2487168" cy="89611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90" b="1">
                <a:solidFill>
                  <a:srgbClr val="6D28D9"/>
                </a:solidFill>
                <a:latin typeface="Arial"/>
              </a:rPr>
              <a:t>EVALUATION METRICS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63637E"/>
                </a:solidFill>
                <a:latin typeface="Calibri"/>
              </a:rPr>
              <a:t>Precision@K • Recall • Latency • Indexing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07424" y="2715768"/>
            <a:ext cx="2487168" cy="89611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90" b="1">
                <a:solidFill>
                  <a:srgbClr val="704EA6"/>
                </a:solidFill>
                <a:latin typeface="Arial"/>
              </a:rPr>
              <a:t>RESOURCE-AWARE RETRIEVAL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63637E"/>
                </a:solidFill>
                <a:latin typeface="Calibri"/>
              </a:rPr>
              <a:t>CPU-first / efficient retrieval where supported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5303520"/>
            <a:ext cx="7498079" cy="566928"/>
          </a:xfrm>
          <a:prstGeom prst="roundRect">
            <a:avLst/>
          </a:prstGeom>
          <a:solidFill>
            <a:srgbClr val="F7F5FB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80" b="1">
                <a:solidFill>
                  <a:srgbClr val="704EA6"/>
                </a:solidFill>
                <a:latin typeface="Arial"/>
              </a:rPr>
              <a:t>RESOURCE-AWARE  •  KEEP THE REPOSITORY OUT OF CONTEXT WHEN IT IS NOT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27080" y="3017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704EA6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704EA6"/>
                </a:solidFill>
                <a:latin typeface="Arial"/>
              </a:rPr>
              <a:t>Impact &amp;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332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63637E"/>
                </a:solidFill>
                <a:latin typeface="Calibri"/>
              </a:rPr>
              <a:t>A developer moves from a natural-language question to searchable, traceable code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901952" cy="658368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1">
                <a:solidFill>
                  <a:srgbClr val="6D28D9"/>
                </a:solidFill>
                <a:latin typeface="Arial"/>
              </a:rPr>
              <a:t>QUESTION</a:t>
            </a:r>
          </a:p>
          <a:p>
            <a:pPr algn="ctr">
              <a:spcBef>
                <a:spcPts val="200"/>
              </a:spcBef>
            </a:pPr>
            <a:r>
              <a:rPr sz="720" b="0">
                <a:solidFill>
                  <a:srgbClr val="63637E"/>
                </a:solidFill>
                <a:latin typeface="Calibri"/>
              </a:rPr>
              <a:t>Natural-language intent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746504"/>
            <a:ext cx="402336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71216" y="1417320"/>
            <a:ext cx="1901952" cy="658368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1">
                <a:solidFill>
                  <a:srgbClr val="704EA6"/>
                </a:solidFill>
                <a:latin typeface="Arial"/>
              </a:rPr>
              <a:t>SEARCH</a:t>
            </a:r>
          </a:p>
          <a:p>
            <a:pPr algn="ctr">
              <a:spcBef>
                <a:spcPts val="200"/>
              </a:spcBef>
            </a:pPr>
            <a:r>
              <a:rPr sz="720" b="0">
                <a:solidFill>
                  <a:srgbClr val="63637E"/>
                </a:solidFill>
                <a:latin typeface="Calibri"/>
              </a:rPr>
              <a:t>Find relevant evidence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73168" y="1746504"/>
            <a:ext cx="402336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75504" y="1417320"/>
            <a:ext cx="1901952" cy="658368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1">
                <a:solidFill>
                  <a:srgbClr val="6D28D9"/>
                </a:solidFill>
                <a:latin typeface="Arial"/>
              </a:rPr>
              <a:t>EVIDENCE</a:t>
            </a:r>
          </a:p>
          <a:p>
            <a:pPr algn="ctr">
              <a:spcBef>
                <a:spcPts val="200"/>
              </a:spcBef>
            </a:pPr>
            <a:r>
              <a:rPr sz="720" b="0">
                <a:solidFill>
                  <a:srgbClr val="63637E"/>
                </a:solidFill>
                <a:latin typeface="Calibri"/>
              </a:rPr>
              <a:t>Anchor to code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77456" y="1746504"/>
            <a:ext cx="402336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79792" y="1417320"/>
            <a:ext cx="1901952" cy="658368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1">
                <a:solidFill>
                  <a:srgbClr val="704EA6"/>
                </a:solidFill>
                <a:latin typeface="Arial"/>
              </a:rPr>
              <a:t>TRACE</a:t>
            </a:r>
          </a:p>
          <a:p>
            <a:pPr algn="ctr">
              <a:spcBef>
                <a:spcPts val="200"/>
              </a:spcBef>
            </a:pPr>
            <a:r>
              <a:rPr sz="720" b="0">
                <a:solidFill>
                  <a:srgbClr val="63637E"/>
                </a:solidFill>
                <a:latin typeface="Calibri"/>
              </a:rPr>
              <a:t>Follow relationships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81744" y="1746504"/>
            <a:ext cx="402336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84080" y="1417320"/>
            <a:ext cx="1901952" cy="658368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1">
                <a:solidFill>
                  <a:srgbClr val="6D28D9"/>
                </a:solidFill>
                <a:latin typeface="Arial"/>
              </a:rPr>
              <a:t>UNDERSTANDING</a:t>
            </a:r>
          </a:p>
          <a:p>
            <a:pPr algn="ctr">
              <a:spcBef>
                <a:spcPts val="200"/>
              </a:spcBef>
            </a:pPr>
            <a:r>
              <a:rPr sz="720" b="0">
                <a:solidFill>
                  <a:srgbClr val="63637E"/>
                </a:solidFill>
                <a:latin typeface="Calibri"/>
              </a:rPr>
              <a:t>Build code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06040"/>
            <a:ext cx="32461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6D28D9"/>
                </a:solidFill>
                <a:latin typeface="Arial"/>
              </a:rPr>
              <a:t>DEBUGGING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Find where behavior originates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2606040"/>
            <a:ext cx="32461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704EA6"/>
                </a:solidFill>
                <a:latin typeface="Arial"/>
              </a:rPr>
              <a:t>ONBOARDING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Understand unfamiliar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606040"/>
            <a:ext cx="32461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6D28D9"/>
                </a:solidFill>
                <a:latin typeface="Arial"/>
              </a:rPr>
              <a:t>IMPACT ANALYSIS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Trace dependencies and relationships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32461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704EA6"/>
                </a:solidFill>
                <a:latin typeface="Arial"/>
              </a:rPr>
              <a:t>NAVIGATION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Locate feature usage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3840480"/>
            <a:ext cx="32461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6D28D9"/>
                </a:solidFill>
                <a:latin typeface="Arial"/>
              </a:rPr>
              <a:t>CODE UNDERSTANDING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Move from natural-language questions to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27080" y="3017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704EA6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704EA6"/>
                </a:solidFill>
                <a:latin typeface="Arial"/>
              </a:rPr>
              <a:t>Innovation highlights, evaluation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332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63637E"/>
                </a:solidFill>
                <a:latin typeface="Calibri"/>
              </a:rPr>
              <a:t>Evaluation framework on a small F1 Lap-Time Predictor repository; results are indicative, not representative of large-scale repositories.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520440" cy="4160520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/>
            <a:endParaRPr lang="en-US" sz="1100" b="1" dirty="0">
              <a:solidFill>
                <a:srgbClr val="6D28D9"/>
              </a:solidFill>
              <a:latin typeface="Arial"/>
              <a:cs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971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6D28D9"/>
                </a:solidFill>
                <a:latin typeface="Arial"/>
              </a:rPr>
              <a:t>Agentic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23160"/>
            <a:ext cx="2971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6D28D9"/>
                </a:solidFill>
                <a:latin typeface="Arial"/>
              </a:rPr>
              <a:t>Semantic + structural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17520"/>
            <a:ext cx="2971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6D28D9"/>
                </a:solidFill>
                <a:latin typeface="Arial"/>
              </a:rPr>
              <a:t>Evidence-first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11880"/>
            <a:ext cx="2971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6D28D9"/>
                </a:solidFill>
                <a:latin typeface="Arial"/>
              </a:rPr>
              <a:t>Multi-step tracing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206240"/>
            <a:ext cx="2971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6D28D9"/>
                </a:solidFill>
                <a:latin typeface="Arial"/>
              </a:rPr>
              <a:t>Relationship-aware investigation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828800"/>
            <a:ext cx="28803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tIns="64008" bIns="36576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B2340"/>
                </a:solidFill>
                <a:latin typeface="Aptos"/>
              </a:rPr>
              <a:t>Precision@K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D28D9"/>
                </a:solidFill>
                <a:latin typeface="Aptos"/>
              </a:rPr>
              <a:t>Top-1 / Top-3 / Top-5 relevance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514600"/>
            <a:ext cx="28803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tIns="64008" bIns="36576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B2340"/>
                </a:solidFill>
                <a:latin typeface="Aptos"/>
              </a:rPr>
              <a:t>Recall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D28D9"/>
                </a:solidFill>
                <a:latin typeface="Aptos"/>
              </a:rPr>
              <a:t>Relevant evidence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200400"/>
            <a:ext cx="28803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tIns="64008" bIns="36576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B2340"/>
                </a:solidFill>
                <a:latin typeface="Aptos"/>
              </a:rPr>
              <a:t>Latency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D28D9"/>
                </a:solidFill>
                <a:latin typeface="Aptos"/>
              </a:rPr>
              <a:t>Mean + P90 query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886200"/>
            <a:ext cx="28803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tIns="64008" bIns="36576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B2340"/>
                </a:solidFill>
                <a:latin typeface="Aptos"/>
              </a:rPr>
              <a:t>Grounding Rate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D28D9"/>
                </a:solidFill>
                <a:latin typeface="Aptos"/>
              </a:rPr>
              <a:t>Answers supported by verified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4160520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6D28D9"/>
                </a:solidFill>
                <a:latin typeface="Arial"/>
              </a:rPr>
              <a:t>LIMITATIONS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828800"/>
            <a:ext cx="2880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1">
                <a:solidFill>
                  <a:srgbClr val="6D28D9"/>
                </a:solidFill>
                <a:latin typeface="Arial"/>
              </a:rPr>
              <a:t>Indexing overhead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578608"/>
            <a:ext cx="2880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1">
                <a:solidFill>
                  <a:srgbClr val="6D28D9"/>
                </a:solidFill>
                <a:latin typeface="Arial"/>
              </a:rPr>
              <a:t>Parser coverage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328415"/>
            <a:ext cx="2880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1">
                <a:solidFill>
                  <a:srgbClr val="6D28D9"/>
                </a:solidFill>
                <a:latin typeface="Arial"/>
              </a:rPr>
              <a:t>Chunking sensitivity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078224"/>
            <a:ext cx="2880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1">
                <a:solidFill>
                  <a:srgbClr val="6D28D9"/>
                </a:solidFill>
                <a:latin typeface="Arial"/>
              </a:rPr>
              <a:t>Structural 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5806440"/>
            <a:ext cx="4023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4EA6"/>
                </a:solidFill>
                <a:latin typeface="Arial"/>
              </a:rPr>
              <a:t>MEASURE → REFINE → REPEAT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617720"/>
            <a:ext cx="2971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2B2340"/>
                </a:solidFill>
                <a:latin typeface="Aptos"/>
              </a:rPr>
              <a:t>Benchmark scope: 10 reproducible evaluation queries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63637E"/>
                </a:solidFill>
                <a:latin typeface="Aptos"/>
              </a:rPr>
              <a:t>Indexing cost: files • lines • bytes • parsing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1463040"/>
            <a:ext cx="2971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04EA6"/>
                </a:solidFill>
                <a:latin typeface="Arial"/>
              </a:rPr>
              <a:t>INNOVATION HIGHLIGHTS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1463040"/>
            <a:ext cx="2880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04EA6"/>
                </a:solidFill>
                <a:latin typeface="Arial"/>
              </a:rPr>
              <a:t>EVALUATION FRAMEWORK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27080" y="3017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704EA6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704EA6"/>
                </a:solidFill>
                <a:latin typeface="Arial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332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63637E"/>
                </a:solidFill>
                <a:latin typeface="Calibri"/>
              </a:rPr>
              <a:t>Future work is explicitly separated from the current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704EA6"/>
                </a:solidFill>
                <a:latin typeface="Arial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331720" cy="1097280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6D28D9"/>
                </a:solidFill>
                <a:latin typeface="Arial"/>
              </a:rPr>
              <a:t>RICHER STRUCTURE</a:t>
            </a:r>
          </a:p>
          <a:p>
            <a:pPr algn="ctr">
              <a:spcBef>
                <a:spcPts val="200"/>
              </a:spcBef>
            </a:pPr>
            <a:r>
              <a:rPr sz="760" b="0">
                <a:solidFill>
                  <a:srgbClr val="63637E"/>
                </a:solidFill>
                <a:latin typeface="Calibri"/>
              </a:rPr>
              <a:t>Call-graph + symbol reasoning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79" y="2286000"/>
            <a:ext cx="521209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47288" y="14173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704EA6"/>
                </a:solidFill>
                <a:latin typeface="Arial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737360"/>
            <a:ext cx="2331720" cy="1097280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704EA6"/>
                </a:solidFill>
                <a:latin typeface="Arial"/>
              </a:rPr>
              <a:t>MULTI-HOP TRACE</a:t>
            </a:r>
          </a:p>
          <a:p>
            <a:pPr algn="ctr">
              <a:spcBef>
                <a:spcPts val="200"/>
              </a:spcBef>
            </a:pPr>
            <a:r>
              <a:rPr sz="760" b="0">
                <a:solidFill>
                  <a:srgbClr val="63637E"/>
                </a:solidFill>
                <a:latin typeface="Calibri"/>
              </a:rPr>
              <a:t>Relationship tracing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79008" y="2286000"/>
            <a:ext cx="521208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00216" y="14173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704EA6"/>
                </a:solidFill>
                <a:latin typeface="Arial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216" y="1737360"/>
            <a:ext cx="2331720" cy="1097280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6D28D9"/>
                </a:solidFill>
                <a:latin typeface="Arial"/>
              </a:rPr>
              <a:t>SMARTER AGENTS</a:t>
            </a:r>
          </a:p>
          <a:p>
            <a:pPr algn="ctr">
              <a:spcBef>
                <a:spcPts val="200"/>
              </a:spcBef>
            </a:pPr>
            <a:r>
              <a:rPr sz="760" b="0">
                <a:solidFill>
                  <a:srgbClr val="63637E"/>
                </a:solidFill>
                <a:latin typeface="Calibri"/>
              </a:rPr>
              <a:t>Tool planning + reranking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31936" y="2286000"/>
            <a:ext cx="521208" cy="0"/>
          </a:xfrm>
          <a:prstGeom prst="line">
            <a:avLst/>
          </a:prstGeom>
          <a:ln w="13970">
            <a:solidFill>
              <a:srgbClr val="704EA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53144" y="14173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704EA6"/>
                </a:solidFill>
                <a:latin typeface="Arial"/>
              </a:rP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53144" y="1737360"/>
            <a:ext cx="2331720" cy="1097280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704EA6"/>
                </a:solidFill>
                <a:latin typeface="Arial"/>
              </a:rPr>
              <a:t>SCALE</a:t>
            </a:r>
          </a:p>
          <a:p>
            <a:pPr algn="ctr">
              <a:spcBef>
                <a:spcPts val="200"/>
              </a:spcBef>
            </a:pPr>
            <a:r>
              <a:rPr sz="760" b="0">
                <a:solidFill>
                  <a:srgbClr val="63637E"/>
                </a:solidFill>
                <a:latin typeface="Calibri"/>
              </a:rPr>
              <a:t>Incremental indexing + larger repositories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10241280" cy="1143000"/>
          </a:xfrm>
          <a:prstGeom prst="roundRect">
            <a:avLst/>
          </a:prstGeom>
          <a:solidFill>
            <a:srgbClr val="F7F5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6D28D9"/>
                </a:solidFill>
                <a:latin typeface="Arial"/>
              </a:rPr>
              <a:t>NORTH STAR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63637E"/>
                </a:solidFill>
                <a:latin typeface="Calibri"/>
              </a:rPr>
              <a:t>Make large codebases searchable, traceable and explainable without loading the whole repository into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532120"/>
            <a:ext cx="3383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4EA6"/>
                </a:solidFill>
                <a:latin typeface="Arial"/>
              </a:rPr>
              <a:t>BUILD → TRACE → 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27080" y="3017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704EA6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704EA6"/>
                </a:solidFill>
                <a:latin typeface="Arial"/>
              </a:rPr>
              <a:t>Brownie Points /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332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63637E"/>
                </a:solidFill>
                <a:latin typeface="Calibri"/>
              </a:rPr>
              <a:t>What distinguishes the approach: interaction between semantic retrieval, structural evidence and investigation.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3383280" cy="107899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6D28D9"/>
                </a:solidFill>
                <a:latin typeface="Arial"/>
              </a:rPr>
              <a:t>SEMANTIC + STRUCTURAL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Semantic retrieval finds meaning; structural analysis finds relationships.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481328"/>
            <a:ext cx="3383280" cy="107899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704EA6"/>
                </a:solidFill>
                <a:latin typeface="Arial"/>
              </a:rPr>
              <a:t>AGENTIC, NOT ONE-SHOT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Plan, inspect, trace and refine instead of answering from one retrieval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2752" y="1481328"/>
            <a:ext cx="3383280" cy="107899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6D28D9"/>
                </a:solidFill>
                <a:latin typeface="Arial"/>
              </a:rPr>
              <a:t>EVIDENCE-FIRST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Answers are accompanied by file, line and snippet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081528"/>
            <a:ext cx="3383280" cy="107899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704EA6"/>
                </a:solidFill>
                <a:latin typeface="Arial"/>
              </a:rPr>
              <a:t>TRACEABLE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Users can follow relevant relationships through the codebase.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3081528"/>
            <a:ext cx="3383280" cy="107899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6D28D9"/>
                </a:solidFill>
                <a:latin typeface="Arial"/>
              </a:rPr>
              <a:t>RELATIONSHIP-AWARE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Supports usages, callers, dependencies and code paths.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3081528"/>
            <a:ext cx="3383280" cy="1078992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10" b="1">
                <a:solidFill>
                  <a:srgbClr val="704EA6"/>
                </a:solidFill>
                <a:latin typeface="Arial"/>
              </a:rPr>
              <a:t>RESOURCE-CONSCIOUS</a:t>
            </a:r>
          </a:p>
          <a:p>
            <a:pPr algn="ctr">
              <a:spcBef>
                <a:spcPts val="200"/>
              </a:spcBef>
            </a:pPr>
            <a:r>
              <a:rPr sz="780" b="0">
                <a:solidFill>
                  <a:srgbClr val="63637E"/>
                </a:solidFill>
                <a:latin typeface="Calibri"/>
              </a:rPr>
              <a:t>Keeps retrieval focused and avoids loading the whole repository into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5669280"/>
            <a:ext cx="6080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4EA6"/>
                </a:solidFill>
                <a:latin typeface="Arial"/>
              </a:rPr>
              <a:t>ASK → PLAN → RETRIEVE → TRACE → EXPLAIN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27080" y="3017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704EA6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7472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704EA6"/>
                </a:solidFill>
                <a:latin typeface="Arial"/>
              </a:rPr>
              <a:t>Checklist — Updated on Public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332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63637E"/>
                </a:solidFill>
                <a:latin typeface="Calibri"/>
              </a:rPr>
              <a:t>Final submission readiness checklist.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331720" cy="685800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90" b="1">
                <a:solidFill>
                  <a:srgbClr val="6D28D9"/>
                </a:solidFill>
                <a:latin typeface="Arial"/>
              </a:rPr>
              <a:t>WORKING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490472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3637E"/>
                </a:solidFill>
                <a:latin typeface="Calibri"/>
              </a:rPr>
              <a:t>Public/shared GitHub repo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17320"/>
            <a:ext cx="15087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10" b="1">
                <a:solidFill>
                  <a:srgbClr val="704EA6"/>
                </a:solidFill>
                <a:latin typeface="Arial"/>
              </a:rPr>
              <a:t>✓ 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490472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30" b="0">
                <a:solidFill>
                  <a:srgbClr val="704EA6"/>
                </a:solidFill>
                <a:latin typeface="Calibri"/>
              </a:rPr>
              <a:t>https://github.com/ExynoX-Team/ExynoX-Code-Intelligence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77440"/>
            <a:ext cx="2331720" cy="685800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90" b="1">
                <a:solidFill>
                  <a:srgbClr val="704EA6"/>
                </a:solidFill>
                <a:latin typeface="Arial"/>
              </a:rPr>
              <a:t>README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450592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3637E"/>
                </a:solidFill>
                <a:latin typeface="Calibri"/>
              </a:rPr>
              <a:t>Reproducible setup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377440"/>
            <a:ext cx="15087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10" b="1">
                <a:solidFill>
                  <a:srgbClr val="704EA6"/>
                </a:solidFill>
                <a:latin typeface="Arial"/>
              </a:rPr>
              <a:t>✓ CONFIRMED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337560"/>
            <a:ext cx="2331720" cy="685800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90" b="1">
                <a:solidFill>
                  <a:srgbClr val="6D28D9"/>
                </a:solidFill>
                <a:latin typeface="Arial"/>
              </a:rPr>
              <a:t>DEMO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410712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3637E"/>
                </a:solidFill>
                <a:latin typeface="Calibri"/>
              </a:rPr>
              <a:t>Maximum 5 minutes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337560"/>
            <a:ext cx="15087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10" b="1">
                <a:solidFill>
                  <a:srgbClr val="704EA6"/>
                </a:solidFill>
                <a:latin typeface="Arial"/>
              </a:rPr>
              <a:t>✓ 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410712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30" b="0">
                <a:solidFill>
                  <a:srgbClr val="704EA6"/>
                </a:solidFill>
                <a:latin typeface="Calibri"/>
              </a:rPr>
              <a:t>https://drive.google.com/file/d/1lHp3Xx4LIlOMjY_iVLKTWf7x0VvgcM1i/view?usp=sharing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297680"/>
            <a:ext cx="2331720" cy="685800"/>
          </a:xfrm>
          <a:prstGeom prst="roundRect">
            <a:avLst/>
          </a:prstGeom>
          <a:solidFill>
            <a:srgbClr val="FCFBFE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90" b="1">
                <a:solidFill>
                  <a:srgbClr val="704EA6"/>
                </a:solidFill>
                <a:latin typeface="Arial"/>
              </a:rPr>
              <a:t>PRESENTATION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370832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3637E"/>
                </a:solidFill>
                <a:latin typeface="Calibri"/>
              </a:rPr>
              <a:t>PPT / PDF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297680"/>
            <a:ext cx="15087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10" b="1">
                <a:solidFill>
                  <a:srgbClr val="704EA6"/>
                </a:solidFill>
                <a:latin typeface="Arial"/>
              </a:rPr>
              <a:t>✓ CONFIRMED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4370832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30" b="0">
                <a:solidFill>
                  <a:srgbClr val="704EA6"/>
                </a:solidFill>
                <a:latin typeface="Calibri"/>
              </a:rPr>
              <a:t>Final PPT/PDF included in submission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532120"/>
            <a:ext cx="8503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Aptos"/>
              </a:rPr>
              <a:t>Required release tag: PRISM_GENAI_HACKATHON_Y2026 • Tag only after the final commit is complete.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5" y="2514600"/>
            <a:ext cx="6766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14142B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5" y="3218688"/>
            <a:ext cx="5852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Arial"/>
              </a:rPr>
              <a:t>AGENTIC CODE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3639312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04EA6"/>
                </a:solidFill>
                <a:latin typeface="Arial"/>
              </a:rPr>
              <a:t>EXYNOX  •  THEME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4069080"/>
            <a:ext cx="4389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3637E"/>
                </a:solidFill>
                <a:latin typeface="Calibri"/>
              </a:rPr>
              <a:t>Mohammad Kashif Fazili
Shaurya Barnwal
Vandana Patel
Suryansh Nair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5" y="5074920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4142B"/>
                </a:solidFill>
                <a:latin typeface="Calibri"/>
              </a:rPr>
              <a:t>SRM Institute of Science and Technology — KTR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5074920"/>
            <a:ext cx="37490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04EA6"/>
                </a:solidFill>
                <a:latin typeface="Calibri"/>
              </a:rPr>
              <a:t>https://github.com/ExynoX-Team/ExynoX-Code-Intelligence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97880"/>
            <a:ext cx="10607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>
                <a:solidFill>
                  <a:srgbClr val="63637E"/>
                </a:solidFill>
                <a:latin typeface="Calibri"/>
              </a:rPr>
              <a:t>Organised by the Language AI Team and the PRISM Team, Samsung R&amp;D Institute India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14300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1061</Words>
  <Application>Microsoft Office PowerPoint</Application>
  <PresentationFormat>Widescreen</PresentationFormat>
  <Paragraphs>235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Kashif Fazili</cp:lastModifiedBy>
  <cp:revision>6</cp:revision>
  <dcterms:created xsi:type="dcterms:W3CDTF">2013-01-27T09:14:16Z</dcterms:created>
  <dcterms:modified xsi:type="dcterms:W3CDTF">2026-09-30T16:10:05Z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